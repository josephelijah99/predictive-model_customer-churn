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5" r:id="rId26"/>
    <p:sldId id="274" r:id="rId20"/>
  </p:sldIdLst>
  <p:notesMasterIdLst>
    <p:notesMasterId r:id="rId2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Relationship Id="rId26" Type="http://schemas.openxmlformats.org/officeDocument/2006/relationships/slide" Target="slides/slide2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300" b="0" i="0" u="none" strike="noStrike">
                <a:solidFill>
                  <a:srgbClr val="000000"/>
                </a:solidFill>
                <a:latin typeface="Arial"/>
              </a:rPr>
              <a:t>Customer Churn Count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Customers</c:v>
                </c:pt>
              </c:strCache>
            </c:strRef>
          </c:tx>
          <c:spPr>
            <a:solidFill>
              <a:srgbClr val="22C55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2C55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F4444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Stayed (No)</c:v>
                  </c:pt>
                  <c:pt idx="1">
                    <c:v>Churned (Yes)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5174</c:v>
                </c:pt>
                <c:pt idx="1">
                  <c:v>1869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300" b="0" i="0" u="none" strike="noStrike">
                <a:solidFill>
                  <a:srgbClr val="000000"/>
                </a:solidFill>
                <a:latin typeface="Arial"/>
              </a:rPr>
              <a:t>Churn Percentage</a:t>
            </a:r>
          </a:p>
        </c:rich>
      </c:tx>
      <c:layout/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Churn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2C55E"/>
              </a:solidFill>
              <a:effectLst/>
            </c:spPr>
          </c:dPt>
          <c:dPt>
            <c:idx val="1"/>
            <c:bubble3D val="0"/>
            <c:spPr>
              <a:solidFill>
                <a:srgbClr val="EF4444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3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3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Stayed</c:v>
                </c:pt>
                <c:pt idx="1">
                  <c:v>Churned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73.5</c:v>
                </c:pt>
                <c:pt idx="1">
                  <c:v>26.5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100" b="0" i="0" u="none" strike="noStrike">
                <a:solidFill>
                  <a:srgbClr val="000000"/>
                </a:solidFill>
                <a:latin typeface="Arial"/>
              </a:rPr>
              <a:t>Median Tenure by Churn Status (Months)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Stayed</c:v>
                </c:pt>
              </c:strCache>
            </c:strRef>
          </c:tx>
          <c:spPr>
            <a:solidFill>
              <a:srgbClr val="22C55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F17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Median Tenure</c:v>
                  </c:pt>
                </c:lvl>
              </c:multiLvlStrCache>
            </c:multiLvl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38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Churned</c:v>
                </c:pt>
              </c:strCache>
            </c:strRef>
          </c:tx>
          <c:spPr>
            <a:solidFill>
              <a:srgbClr val="EF444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F17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Median Tenure</c:v>
                  </c:pt>
                </c:lvl>
              </c:multiLvlStrCache>
            </c:multiLvl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10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F17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100" b="0" i="0" u="none" strike="noStrike">
                <a:solidFill>
                  <a:srgbClr val="000000"/>
                </a:solidFill>
                <a:latin typeface="Arial"/>
              </a:rPr>
              <a:t>Avg Monthly Charges by Churn Status ($)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Stayed</c:v>
                </c:pt>
              </c:strCache>
            </c:strRef>
          </c:tx>
          <c:spPr>
            <a:solidFill>
              <a:srgbClr val="22C55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F17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Avg Monthly Charge</c:v>
                  </c:pt>
                </c:lvl>
              </c:multiLvlStrCache>
            </c:multiLvl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61.27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Churned</c:v>
                </c:pt>
              </c:strCache>
            </c:strRef>
          </c:tx>
          <c:spPr>
            <a:solidFill>
              <a:srgbClr val="EF444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F17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Avg Monthly Charge</c:v>
                  </c:pt>
                </c:lvl>
              </c:multiLvlStrCache>
            </c:multiLvl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74.44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F17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200" b="0" i="0" u="none" strike="noStrike">
                <a:solidFill>
                  <a:srgbClr val="000000"/>
                </a:solidFill>
                <a:latin typeface="Arial"/>
              </a:rPr>
              <a:t>Churn Rate by Contract Type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Churn Rate %</c:v>
                </c:pt>
              </c:strCache>
            </c:strRef>
          </c:tx>
          <c:spPr>
            <a:solidFill>
              <a:srgbClr val="EF444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F17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F444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9731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2C55E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Month-to-month</c:v>
                  </c:pt>
                  <c:pt idx="1">
                    <c:v>One Year</c:v>
                  </c:pt>
                  <c:pt idx="2">
                    <c:v>Two Year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42.7</c:v>
                </c:pt>
                <c:pt idx="1">
                  <c:v>11.3</c:v>
                </c:pt>
                <c:pt idx="2">
                  <c:v>2.8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F17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0F4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200" b="0" i="0" u="none" strike="noStrike">
                <a:solidFill>
                  <a:srgbClr val="000000"/>
                </a:solidFill>
                <a:latin typeface="Arial"/>
              </a:rPr>
              <a:t>Churn Rate by Internet Service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Churn Rate %</c:v>
                </c:pt>
              </c:strCache>
            </c:strRef>
          </c:tx>
          <c:spPr>
            <a:solidFill>
              <a:srgbClr val="EF444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F17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F444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3B82F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2C55E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Fiber Optic</c:v>
                  </c:pt>
                  <c:pt idx="1">
                    <c:v>DSL</c:v>
                  </c:pt>
                  <c:pt idx="2">
                    <c:v>No Internet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41.9</c:v>
                </c:pt>
                <c:pt idx="1">
                  <c:v>19</c:v>
                </c:pt>
                <c:pt idx="2">
                  <c:v>7.4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F17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0F4FF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100" b="0" i="0" u="none" strike="noStrike">
                <a:solidFill>
                  <a:srgbClr val="000000"/>
                </a:solidFill>
                <a:latin typeface="Arial"/>
              </a:rPr>
              <a:t>Churn Rate by Senior Citizen Status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Churn Rate %</c:v>
                </c:pt>
              </c:strCache>
            </c:strRef>
          </c:tx>
          <c:spPr>
            <a:solidFill>
              <a:srgbClr val="22C55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F17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2C55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F4444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Non-Senior</c:v>
                  </c:pt>
                  <c:pt idx="1">
                    <c:v>Senior Citizen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23.6</c:v>
                </c:pt>
                <c:pt idx="1">
                  <c:v>41.7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F17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100" b="0" i="0" u="none" strike="noStrike">
                <a:solidFill>
                  <a:srgbClr val="000000"/>
                </a:solidFill>
                <a:latin typeface="Arial"/>
              </a:rPr>
              <a:t>Churn Rate by Gender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Churn Rate %</c:v>
                </c:pt>
              </c:strCache>
            </c:strRef>
          </c:tx>
          <c:spPr>
            <a:solidFill>
              <a:srgbClr val="EC489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F17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C4899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3B82F6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Female</c:v>
                  </c:pt>
                  <c:pt idx="1">
                    <c:v>Male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26.9</c:v>
                </c:pt>
                <c:pt idx="1">
                  <c:v>26.2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F17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chart" Target="..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chart" Target="../charts/chart3.xml"/><Relationship Id="rId2" Type="http://schemas.openxmlformats.org/officeDocument/2006/relationships/chart" Target="../charts/chart4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chart" Target="../charts/chart5.xml"/><Relationship Id="rId2" Type="http://schemas.openxmlformats.org/officeDocument/2006/relationships/chart" Target="../charts/chart6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chart" Target="../charts/chart7.xml"/><Relationship Id="rId2" Type="http://schemas.openxmlformats.org/officeDocument/2006/relationships/chart" Target="../charts/chart8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7132320" y="-1097280"/>
            <a:ext cx="3200400" cy="3200400"/>
          </a:xfrm>
          <a:prstGeom prst="ellipse">
            <a:avLst/>
          </a:prstGeom>
          <a:solidFill>
            <a:srgbClr val="2563EB">
              <a:alpha val="25000"/>
            </a:srgbClr>
          </a:solidFill>
          <a:ln w="12700">
            <a:solidFill>
              <a:srgbClr val="2563EB">
                <a:alpha val="2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80960" y="-457200"/>
            <a:ext cx="2011680" cy="2011680"/>
          </a:xfrm>
          <a:prstGeom prst="ellipse">
            <a:avLst/>
          </a:prstGeom>
          <a:solidFill>
            <a:srgbClr val="CADCFC">
              <a:alpha val="15000"/>
            </a:srgbClr>
          </a:solidFill>
          <a:ln w="12700">
            <a:solidFill>
              <a:srgbClr val="CADCFC">
                <a:alpha val="1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914400"/>
            <a:ext cx="2377440" cy="320040"/>
          </a:xfrm>
          <a:prstGeom prst="rect">
            <a:avLst>
              <a:gd name="adj" fmla="val 14286"/>
            </a:avLst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9144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DATA SCIENCE CASE STUDY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" y="1417320"/>
            <a:ext cx="8229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Churn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457200" y="224028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&amp; Prediction</a:t>
            </a:r>
            <a:endParaRPr lang="en-US" sz="3600" dirty="0"/>
          </a:p>
        </p:txBody>
      </p:sp>
      <p:sp>
        <p:nvSpPr>
          <p:cNvPr id="9" name="Shape 7"/>
          <p:cNvSpPr/>
          <p:nvPr/>
        </p:nvSpPr>
        <p:spPr>
          <a:xfrm>
            <a:off x="457200" y="3063240"/>
            <a:ext cx="109728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3246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Telecommunications Industry | End-to-End Machine Learning Project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4297680"/>
            <a:ext cx="2926080" cy="45720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42976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Presented by  Joseph Elijah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943600" y="4023360"/>
            <a:ext cx="914400" cy="82296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0" y="40690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7,043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943600" y="440740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ADCFC"/>
                </a:solidFill>
              </a:rPr>
              <a:t>Customers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7040880" y="4023360"/>
            <a:ext cx="914400" cy="82296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040880" y="40690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21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040880" y="440740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ADCFC"/>
                </a:solidFill>
              </a:rPr>
              <a:t>Features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8138160" y="4023360"/>
            <a:ext cx="914400" cy="82296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8160" y="40690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138160" y="440740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ADCFC"/>
                </a:solidFill>
              </a:rPr>
              <a:t>ML Models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Project Roadmap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1097280"/>
            <a:ext cx="4114800" cy="7498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097280"/>
            <a:ext cx="502920" cy="74980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1097280"/>
            <a:ext cx="502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114300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Business Problem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1463040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Why is churn critical for telecom?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0040" y="2011680"/>
            <a:ext cx="4114800" cy="7498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2011680"/>
            <a:ext cx="502920" cy="74980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1" name="Text 9"/>
          <p:cNvSpPr/>
          <p:nvPr/>
        </p:nvSpPr>
        <p:spPr>
          <a:xfrm>
            <a:off x="320040" y="2011680"/>
            <a:ext cx="502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14400" y="205740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Data Understanding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14400" y="2377440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7,043 customers, 21 features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20040" y="2926080"/>
            <a:ext cx="4114800" cy="7498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2926080"/>
            <a:ext cx="502920" cy="74980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6" name="Text 14"/>
          <p:cNvSpPr/>
          <p:nvPr/>
        </p:nvSpPr>
        <p:spPr>
          <a:xfrm>
            <a:off x="320040" y="2926080"/>
            <a:ext cx="502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14400" y="297180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Data Cleaning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14400" y="3291840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Missing values, type fixes, encoding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20040" y="3840480"/>
            <a:ext cx="4114800" cy="7498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0040" y="3840480"/>
            <a:ext cx="502920" cy="749808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1" name="Text 19"/>
          <p:cNvSpPr/>
          <p:nvPr/>
        </p:nvSpPr>
        <p:spPr>
          <a:xfrm>
            <a:off x="320040" y="3840480"/>
            <a:ext cx="502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14400" y="388620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EDA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14400" y="4206240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Univariate, Bivariate, Multivariate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800600" y="1097280"/>
            <a:ext cx="4114800" cy="7498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00600" y="1097280"/>
            <a:ext cx="502920" cy="749808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6" name="Text 24"/>
          <p:cNvSpPr/>
          <p:nvPr/>
        </p:nvSpPr>
        <p:spPr>
          <a:xfrm>
            <a:off x="4800600" y="1097280"/>
            <a:ext cx="502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394960" y="114300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Modelling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394960" y="1463040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Logistic Reg, Random Forest, XGBoost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800600" y="2011680"/>
            <a:ext cx="4114800" cy="7498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00600" y="2011680"/>
            <a:ext cx="502920" cy="74980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1" name="Text 29"/>
          <p:cNvSpPr/>
          <p:nvPr/>
        </p:nvSpPr>
        <p:spPr>
          <a:xfrm>
            <a:off x="4800600" y="2011680"/>
            <a:ext cx="502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06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394960" y="205740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Evaluation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394960" y="2377440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Confusion matrix, ROC, Feature importance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800600" y="2926080"/>
            <a:ext cx="4114800" cy="7498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800600" y="2926080"/>
            <a:ext cx="502920" cy="749808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6" name="Text 34"/>
          <p:cNvSpPr/>
          <p:nvPr/>
        </p:nvSpPr>
        <p:spPr>
          <a:xfrm>
            <a:off x="4800600" y="2926080"/>
            <a:ext cx="502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07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5394960" y="297180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Deployment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394960" y="3291840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Live Streamlit prediction app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The Business Problem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10515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</a:rPr>
              <a:t>What is Customer Churn?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65760" y="146304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Churn</a:t>
            </a:r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 is when a customer stops using a company's service and moves to a competitor.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2148840"/>
            <a:ext cx="256032" cy="256032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10312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Acquiring a new customer costs 5x more than retaining one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2807208"/>
            <a:ext cx="256032" cy="256032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761488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A 5% increase in retention can increase profits by 25-95%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3465576"/>
            <a:ext cx="256032" cy="256032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3419856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Telecom industry has one of the highest churn rates: 15-25% annually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846320" y="1005840"/>
            <a:ext cx="3931920" cy="3749040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0" y="109728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ADCFC"/>
                </a:solidFill>
              </a:rPr>
              <a:t>Project Objectives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120640" y="1508760"/>
            <a:ext cx="3383280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5" name="Shape 13"/>
          <p:cNvSpPr/>
          <p:nvPr/>
        </p:nvSpPr>
        <p:spPr>
          <a:xfrm>
            <a:off x="5120640" y="1691640"/>
            <a:ext cx="228600" cy="2286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0" y="1664208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Understand WHO is churning and WHY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120640" y="2258568"/>
            <a:ext cx="228600" cy="2286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0" y="2231136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Identify key drivers of churn through EDA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120640" y="2825496"/>
            <a:ext cx="228600" cy="2286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0" y="2798064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Build a model to predict future churners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120640" y="3392424"/>
            <a:ext cx="228600" cy="2286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0" y="3364992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Deploy a live prediction tool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120640" y="3959352"/>
            <a:ext cx="228600" cy="2286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4" name="Text 22"/>
          <p:cNvSpPr/>
          <p:nvPr/>
        </p:nvSpPr>
        <p:spPr>
          <a:xfrm>
            <a:off x="5486400" y="39319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Give actionable business recommendations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Dataset Overview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192024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005840"/>
            <a:ext cx="1920240" cy="10972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114300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563EB"/>
                </a:solidFill>
              </a:rPr>
              <a:t>7,043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320040" y="16916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Total Customers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468880" y="1005840"/>
            <a:ext cx="192024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468880" y="1005840"/>
            <a:ext cx="1920240" cy="10972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0" name="Text 8"/>
          <p:cNvSpPr/>
          <p:nvPr/>
        </p:nvSpPr>
        <p:spPr>
          <a:xfrm>
            <a:off x="2468880" y="114300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7C3AED"/>
                </a:solidFill>
              </a:rPr>
              <a:t>21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2468880" y="16916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Feature Columns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17720" y="1005840"/>
            <a:ext cx="192024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17720" y="1005840"/>
            <a:ext cx="1920240" cy="109728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4" name="Text 12"/>
          <p:cNvSpPr/>
          <p:nvPr/>
        </p:nvSpPr>
        <p:spPr>
          <a:xfrm>
            <a:off x="4617720" y="114300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F4444"/>
                </a:solidFill>
              </a:rPr>
              <a:t>26.5%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4617720" y="16916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Churn Rate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766560" y="1005840"/>
            <a:ext cx="192024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766560" y="1005840"/>
            <a:ext cx="1920240" cy="109728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8" name="Text 16"/>
          <p:cNvSpPr/>
          <p:nvPr/>
        </p:nvSpPr>
        <p:spPr>
          <a:xfrm>
            <a:off x="6766560" y="114300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97316"/>
                </a:solidFill>
              </a:rPr>
              <a:t>11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6766560" y="16916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Missing Values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0040" y="2331720"/>
            <a:ext cx="402336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" y="2331720"/>
            <a:ext cx="73152" cy="10058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2" name="Text 20"/>
          <p:cNvSpPr/>
          <p:nvPr/>
        </p:nvSpPr>
        <p:spPr>
          <a:xfrm>
            <a:off x="502920" y="23774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Demographics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02920" y="2715768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gender, SeniorCitizen, Partner, Dependents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709160" y="2331720"/>
            <a:ext cx="402336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09160" y="2331720"/>
            <a:ext cx="73152" cy="100584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6" name="Text 24"/>
          <p:cNvSpPr/>
          <p:nvPr/>
        </p:nvSpPr>
        <p:spPr>
          <a:xfrm>
            <a:off x="4892040" y="23774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Services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892040" y="2715768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PhoneService, MultipleLines, InternetService, OnlineSecurity, OnlineBackup, DeviceProtection, TechSupport, StreamingTV, StreamingMovies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20040" y="3566160"/>
            <a:ext cx="402336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20040" y="3566160"/>
            <a:ext cx="73152" cy="10058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0" name="Text 28"/>
          <p:cNvSpPr/>
          <p:nvPr/>
        </p:nvSpPr>
        <p:spPr>
          <a:xfrm>
            <a:off x="502920" y="361188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Account Info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02920" y="3950208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tenure, Contract, PaperlessBilling, PaymentMethod, MonthlyCharges, TotalCharges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709160" y="3566160"/>
            <a:ext cx="402336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709160" y="3566160"/>
            <a:ext cx="73152" cy="100584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4" name="Text 32"/>
          <p:cNvSpPr/>
          <p:nvPr/>
        </p:nvSpPr>
        <p:spPr>
          <a:xfrm>
            <a:off x="4892040" y="361188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Target Variable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892040" y="3950208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Churn — Yes (1) or No (0)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Data Cleaning &amp; Preparation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8503920" cy="804672"/>
          </a:xfrm>
          <a:prstGeom prst="rect">
            <a:avLst/>
          </a:prstGeom>
          <a:solidFill>
            <a:srgbClr val="F0F4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51560"/>
            <a:ext cx="502920" cy="80467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1051560"/>
            <a:ext cx="502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1106424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Fixed Missing Values (TotalCharges)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1399032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11 rows had null TotalCharges. Investigation revealed all had tenure = 0 — brand new customers with no bills yet. Filled with 0 (not median — that would be factually wrong).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" y="2011680"/>
            <a:ext cx="8503920" cy="804672"/>
          </a:xfrm>
          <a:prstGeom prst="rect">
            <a:avLst/>
          </a:prstGeom>
          <a:solidFill>
            <a:srgbClr val="F0F4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2011680"/>
            <a:ext cx="502920" cy="80467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1" name="Text 9"/>
          <p:cNvSpPr/>
          <p:nvPr/>
        </p:nvSpPr>
        <p:spPr>
          <a:xfrm>
            <a:off x="274320" y="2011680"/>
            <a:ext cx="502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14400" y="2066544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Fixed Data Types (SeniorCitizen)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14400" y="2359152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SeniorCitizen was stored as 0/1 integers but is actually a Yes/No category. Converted to 'Yes'/'No' for consistency before encoding.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2971800"/>
            <a:ext cx="8503920" cy="804672"/>
          </a:xfrm>
          <a:prstGeom prst="rect">
            <a:avLst/>
          </a:prstGeom>
          <a:solidFill>
            <a:srgbClr val="F0F4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2971800"/>
            <a:ext cx="502920" cy="804672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6" name="Text 14"/>
          <p:cNvSpPr/>
          <p:nvPr/>
        </p:nvSpPr>
        <p:spPr>
          <a:xfrm>
            <a:off x="274320" y="2971800"/>
            <a:ext cx="502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914400" y="3026664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Handled 'No Internet Service' Values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14400" y="3319272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7 columns had a 3rd value 'No internet service' — these customers simply had no internet. Treated as 'No' and binary encoded to 0/1.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74320" y="3931920"/>
            <a:ext cx="8503920" cy="804672"/>
          </a:xfrm>
          <a:prstGeom prst="rect">
            <a:avLst/>
          </a:prstGeom>
          <a:solidFill>
            <a:srgbClr val="F0F4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3931920"/>
            <a:ext cx="502920" cy="804672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1" name="Text 19"/>
          <p:cNvSpPr/>
          <p:nvPr/>
        </p:nvSpPr>
        <p:spPr>
          <a:xfrm>
            <a:off x="274320" y="3931920"/>
            <a:ext cx="502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914400" y="3986784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Encoded Categorical Columns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14400" y="4279392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Binary columns (Yes/No) mapped to 1/0. Multi-category columns (Contract, InternetService, PaymentMethod) one-hot encoded. CustomerID dropped — no predictive value.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2286000"/>
            <a:ext cx="4572000" cy="4572000"/>
          </a:xfrm>
          <a:prstGeom prst="ellipse">
            <a:avLst/>
          </a:prstGeom>
          <a:solidFill>
            <a:srgbClr val="2563EB">
              <a:alpha val="20000"/>
            </a:srgbClr>
          </a:solidFill>
          <a:ln w="12700">
            <a:solidFill>
              <a:srgbClr val="2563EB">
                <a:alpha val="2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Exploratory Data Analysis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1430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</a:rPr>
              <a:t>Getting to know the data before making any decisions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600200"/>
            <a:ext cx="109728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920240"/>
            <a:ext cx="2560320" cy="2560320"/>
          </a:xfrm>
          <a:prstGeom prst="rect">
            <a:avLst/>
          </a:prstGeom>
          <a:solidFill>
            <a:srgbClr val="FFFFFF">
              <a:alpha val="8000"/>
            </a:srgbClr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920240"/>
            <a:ext cx="2560320" cy="4572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9202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01  Univariate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94360" y="2514600"/>
            <a:ext cx="2286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One column at a time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Understand shape &amp; distribution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91840" y="1920240"/>
            <a:ext cx="2560320" cy="2560320"/>
          </a:xfrm>
          <a:prstGeom prst="rect">
            <a:avLst/>
          </a:prstGeom>
          <a:solidFill>
            <a:srgbClr val="FFFFFF">
              <a:alpha val="8000"/>
            </a:srgbClr>
          </a:solidFill>
          <a:ln w="25400">
            <a:solidFill>
              <a:srgbClr val="8B5CF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91840" y="1920240"/>
            <a:ext cx="2560320" cy="45720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2" name="Text 10"/>
          <p:cNvSpPr/>
          <p:nvPr/>
        </p:nvSpPr>
        <p:spPr>
          <a:xfrm>
            <a:off x="3291840" y="19202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02  Bivariate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429000" y="2514600"/>
            <a:ext cx="2286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Each feature vs Churn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Find what drives customers to leave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26480" y="1920240"/>
            <a:ext cx="2560320" cy="2560320"/>
          </a:xfrm>
          <a:prstGeom prst="rect">
            <a:avLst/>
          </a:prstGeom>
          <a:solidFill>
            <a:srgbClr val="FFFFFF">
              <a:alpha val="8000"/>
            </a:srgbClr>
          </a:solidFill>
          <a:ln w="25400">
            <a:solidFill>
              <a:srgbClr val="06B6D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26480" y="1920240"/>
            <a:ext cx="2560320" cy="4572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6" name="Text 14"/>
          <p:cNvSpPr/>
          <p:nvPr/>
        </p:nvSpPr>
        <p:spPr>
          <a:xfrm>
            <a:off x="6126480" y="19202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03  Multivariate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263640" y="2514600"/>
            <a:ext cx="2286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All features together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Correlation heatmap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DCFC"/>
                </a:solidFill>
              </a:rPr>
              <a:t>Key Question: What makes a customer churn?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EDA — Univariate: Churn Distribution</a:t>
            </a:r>
            <a:endParaRPr lang="en-US" sz="2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005840"/>
          <a:ext cx="475488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5212080" y="1005840"/>
          <a:ext cx="365760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Shape 2"/>
          <p:cNvSpPr/>
          <p:nvPr/>
        </p:nvSpPr>
        <p:spPr>
          <a:xfrm>
            <a:off x="5212080" y="4023360"/>
            <a:ext cx="3657600" cy="822960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3"/>
          <p:cNvSpPr/>
          <p:nvPr/>
        </p:nvSpPr>
        <p:spPr>
          <a:xfrm>
            <a:off x="5349240" y="4069080"/>
            <a:ext cx="3383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ADCFC"/>
                </a:solidFill>
              </a:rPr>
              <a:t>Class Imbalance: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73.5% stayed vs 26.5% churned. SMOTE used to balance before modelling.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EDA — Univariate: Numeric Features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2743200" cy="3840480"/>
          </a:xfrm>
          <a:prstGeom prst="rect">
            <a:avLst/>
          </a:prstGeom>
          <a:solidFill>
            <a:srgbClr val="F0F4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05840"/>
            <a:ext cx="2743200" cy="4114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10058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Tenure Distribution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38912" y="1508760"/>
            <a:ext cx="228600" cy="822960"/>
          </a:xfrm>
          <a:prstGeom prst="rect">
            <a:avLst/>
          </a:prstGeom>
          <a:solidFill>
            <a:srgbClr val="3B82F6">
              <a:alpha val="6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731520" y="1965960"/>
            <a:ext cx="228600" cy="365760"/>
          </a:xfrm>
          <a:prstGeom prst="rect">
            <a:avLst/>
          </a:prstGeom>
          <a:solidFill>
            <a:srgbClr val="3B82F6">
              <a:alpha val="6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024128" y="2103120"/>
            <a:ext cx="228600" cy="228600"/>
          </a:xfrm>
          <a:prstGeom prst="rect">
            <a:avLst/>
          </a:prstGeom>
          <a:solidFill>
            <a:srgbClr val="3B82F6">
              <a:alpha val="6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316736" y="2057400"/>
            <a:ext cx="228600" cy="274320"/>
          </a:xfrm>
          <a:prstGeom prst="rect">
            <a:avLst/>
          </a:prstGeom>
          <a:solidFill>
            <a:srgbClr val="3B82F6">
              <a:alpha val="6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609344" y="2103120"/>
            <a:ext cx="228600" cy="228600"/>
          </a:xfrm>
          <a:prstGeom prst="rect">
            <a:avLst/>
          </a:prstGeom>
          <a:solidFill>
            <a:srgbClr val="3B82F6">
              <a:alpha val="6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901952" y="2194560"/>
            <a:ext cx="228600" cy="137160"/>
          </a:xfrm>
          <a:prstGeom prst="rect">
            <a:avLst/>
          </a:prstGeom>
          <a:solidFill>
            <a:srgbClr val="3B82F6">
              <a:alpha val="6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2194560" y="2148840"/>
            <a:ext cx="228600" cy="182880"/>
          </a:xfrm>
          <a:prstGeom prst="rect">
            <a:avLst/>
          </a:prstGeom>
          <a:solidFill>
            <a:srgbClr val="3B82F6">
              <a:alpha val="6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2487168" y="1783080"/>
            <a:ext cx="228600" cy="548640"/>
          </a:xfrm>
          <a:prstGeom prst="rect">
            <a:avLst/>
          </a:prstGeom>
          <a:solidFill>
            <a:srgbClr val="3B82F6">
              <a:alpha val="6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411480" y="2514600"/>
            <a:ext cx="2468880" cy="2148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</a:rPr>
              <a:t>Two clear spikes: month 0-1 (new customers) and month 70-72 (very loyal). Customers either leave early or stay forever. Mean = 32.4 months.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18688" y="1005840"/>
            <a:ext cx="2743200" cy="3840480"/>
          </a:xfrm>
          <a:prstGeom prst="rect">
            <a:avLst/>
          </a:prstGeom>
          <a:solidFill>
            <a:srgbClr val="F0F4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18688" y="1005840"/>
            <a:ext cx="2743200" cy="41148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8" name="Text 16"/>
          <p:cNvSpPr/>
          <p:nvPr/>
        </p:nvSpPr>
        <p:spPr>
          <a:xfrm>
            <a:off x="3218688" y="10058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Monthly Charges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383280" y="1417320"/>
            <a:ext cx="228600" cy="914400"/>
          </a:xfrm>
          <a:prstGeom prst="rect">
            <a:avLst/>
          </a:prstGeom>
          <a:solidFill>
            <a:srgbClr val="8B5CF6">
              <a:alpha val="6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3675888" y="2148840"/>
            <a:ext cx="228600" cy="182880"/>
          </a:xfrm>
          <a:prstGeom prst="rect">
            <a:avLst/>
          </a:prstGeom>
          <a:solidFill>
            <a:srgbClr val="8B5CF6">
              <a:alpha val="6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3968496" y="2240280"/>
            <a:ext cx="228600" cy="91440"/>
          </a:xfrm>
          <a:prstGeom prst="rect">
            <a:avLst/>
          </a:prstGeom>
          <a:solidFill>
            <a:srgbClr val="8B5CF6">
              <a:alpha val="60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4261104" y="2103120"/>
            <a:ext cx="228600" cy="228600"/>
          </a:xfrm>
          <a:prstGeom prst="rect">
            <a:avLst/>
          </a:prstGeom>
          <a:solidFill>
            <a:srgbClr val="8B5CF6">
              <a:alpha val="60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4553712" y="2167128"/>
            <a:ext cx="228600" cy="164592"/>
          </a:xfrm>
          <a:prstGeom prst="rect">
            <a:avLst/>
          </a:prstGeom>
          <a:solidFill>
            <a:srgbClr val="8B5CF6">
              <a:alpha val="60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4846320" y="2011680"/>
            <a:ext cx="228600" cy="320040"/>
          </a:xfrm>
          <a:prstGeom prst="rect">
            <a:avLst/>
          </a:prstGeom>
          <a:solidFill>
            <a:srgbClr val="8B5CF6">
              <a:alpha val="60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5138928" y="2075688"/>
            <a:ext cx="228600" cy="256032"/>
          </a:xfrm>
          <a:prstGeom prst="rect">
            <a:avLst/>
          </a:prstGeom>
          <a:solidFill>
            <a:srgbClr val="8B5CF6">
              <a:alpha val="60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5431536" y="2167128"/>
            <a:ext cx="228600" cy="164592"/>
          </a:xfrm>
          <a:prstGeom prst="rect">
            <a:avLst/>
          </a:prstGeom>
          <a:solidFill>
            <a:srgbClr val="8B5CF6">
              <a:alpha val="60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3355848" y="2514600"/>
            <a:ext cx="2468880" cy="2148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</a:rPr>
              <a:t>Large spike at ~$20 (basic plan customers). Secondary bump at $70-$80. Wide spread suggests two customer types: budget vs premium. Mean = $64.8.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163056" y="1005840"/>
            <a:ext cx="2743200" cy="3840480"/>
          </a:xfrm>
          <a:prstGeom prst="rect">
            <a:avLst/>
          </a:prstGeom>
          <a:solidFill>
            <a:srgbClr val="F0F4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163056" y="1005840"/>
            <a:ext cx="2743200" cy="41148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0" name="Text 28"/>
          <p:cNvSpPr/>
          <p:nvPr/>
        </p:nvSpPr>
        <p:spPr>
          <a:xfrm>
            <a:off x="6163056" y="10058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Total Charges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327648" y="1417320"/>
            <a:ext cx="228600" cy="914400"/>
          </a:xfrm>
          <a:prstGeom prst="rect">
            <a:avLst/>
          </a:prstGeom>
          <a:solidFill>
            <a:srgbClr val="F97316">
              <a:alpha val="60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6620256" y="1783080"/>
            <a:ext cx="228600" cy="548640"/>
          </a:xfrm>
          <a:prstGeom prst="rect">
            <a:avLst/>
          </a:prstGeom>
          <a:solidFill>
            <a:srgbClr val="F97316">
              <a:alpha val="60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6912864" y="1920240"/>
            <a:ext cx="228600" cy="411480"/>
          </a:xfrm>
          <a:prstGeom prst="rect">
            <a:avLst/>
          </a:prstGeom>
          <a:solidFill>
            <a:srgbClr val="F97316">
              <a:alpha val="60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7205472" y="2011680"/>
            <a:ext cx="228600" cy="320040"/>
          </a:xfrm>
          <a:prstGeom prst="rect">
            <a:avLst/>
          </a:prstGeom>
          <a:solidFill>
            <a:srgbClr val="F97316">
              <a:alpha val="60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7498080" y="2103120"/>
            <a:ext cx="228600" cy="228600"/>
          </a:xfrm>
          <a:prstGeom prst="rect">
            <a:avLst/>
          </a:prstGeom>
          <a:solidFill>
            <a:srgbClr val="F97316">
              <a:alpha val="60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7790688" y="2148840"/>
            <a:ext cx="228600" cy="182880"/>
          </a:xfrm>
          <a:prstGeom prst="rect">
            <a:avLst/>
          </a:prstGeom>
          <a:solidFill>
            <a:srgbClr val="F97316">
              <a:alpha val="60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8083296" y="2194560"/>
            <a:ext cx="228600" cy="137160"/>
          </a:xfrm>
          <a:prstGeom prst="rect">
            <a:avLst/>
          </a:prstGeom>
          <a:solidFill>
            <a:srgbClr val="F97316">
              <a:alpha val="60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8375904" y="2240280"/>
            <a:ext cx="228600" cy="91440"/>
          </a:xfrm>
          <a:prstGeom prst="rect">
            <a:avLst/>
          </a:prstGeom>
          <a:solidFill>
            <a:srgbClr val="F97316">
              <a:alpha val="60000"/>
            </a:srgbClr>
          </a:solidFill>
          <a:ln/>
        </p:spPr>
      </p:sp>
      <p:sp>
        <p:nvSpPr>
          <p:cNvPr id="39" name="Text 37"/>
          <p:cNvSpPr/>
          <p:nvPr/>
        </p:nvSpPr>
        <p:spPr>
          <a:xfrm>
            <a:off x="6300216" y="2514600"/>
            <a:ext cx="2468880" cy="2148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</a:rPr>
              <a:t>Heavily left-skewed. Most customers paid very little — confirming many are new. Long tail of loyal, high-paying customers. Mean = $2,279.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EDA — Bivariate: Tenure &amp; Monthly Charges vs Churn</a:t>
            </a:r>
            <a:endParaRPr lang="en-US" sz="2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1005840"/>
          <a:ext cx="411480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4754880" y="1005840"/>
          <a:ext cx="411480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Shape 2"/>
          <p:cNvSpPr/>
          <p:nvPr/>
        </p:nvSpPr>
        <p:spPr>
          <a:xfrm>
            <a:off x="274320" y="4069080"/>
            <a:ext cx="4114800" cy="7772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Text 3"/>
          <p:cNvSpPr/>
          <p:nvPr/>
        </p:nvSpPr>
        <p:spPr>
          <a:xfrm>
            <a:off x="411480" y="4114800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Churners leave at median 10 months vs 38 months for loyal customers. First 10 months = danger zone.</a:t>
            </a:r>
            <a:endParaRPr lang="en-US" sz="1000" dirty="0"/>
          </a:p>
        </p:txBody>
      </p:sp>
      <p:sp>
        <p:nvSpPr>
          <p:cNvPr id="8" name="Shape 4"/>
          <p:cNvSpPr/>
          <p:nvPr/>
        </p:nvSpPr>
        <p:spPr>
          <a:xfrm>
            <a:off x="4754880" y="4069080"/>
            <a:ext cx="4114800" cy="7772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9" name="Text 5"/>
          <p:cNvSpPr/>
          <p:nvPr/>
        </p:nvSpPr>
        <p:spPr>
          <a:xfrm>
            <a:off x="4892040" y="4114800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Churners pay $13.17 more per month on average. Higher charges = higher churn risk.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</a:rPr>
              <a:t>EDA — Bivariate: Contract Type &amp; Internet Service vs Churn</a:t>
            </a:r>
            <a:endParaRPr lang="en-US" sz="19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1005840"/>
          <a:ext cx="420624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4663440" y="1005840"/>
          <a:ext cx="420624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Shape 2"/>
          <p:cNvSpPr/>
          <p:nvPr/>
        </p:nvSpPr>
        <p:spPr>
          <a:xfrm>
            <a:off x="274320" y="4343400"/>
            <a:ext cx="8595360" cy="594360"/>
          </a:xfrm>
          <a:prstGeom prst="rect">
            <a:avLst/>
          </a:prstGeom>
          <a:solidFill>
            <a:srgbClr val="FEF3C7"/>
          </a:solidFill>
          <a:ln w="19050">
            <a:solidFill>
              <a:srgbClr val="F97316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457200" y="4370832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2400E"/>
                </a:solidFill>
              </a:rPr>
              <a:t>Key Finding: Month-to-month customers churn at 42.7% — 15x higher than two-year contract customers (2.8%). Fiber Optic churn mirrors this at 41.9%.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EDA — Bivariate: Senior Citizen &amp; Gender vs Churn</a:t>
            </a:r>
            <a:endParaRPr lang="en-US" sz="2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1005840"/>
          <a:ext cx="411480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4754880" y="1005840"/>
          <a:ext cx="411480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Shape 2"/>
          <p:cNvSpPr/>
          <p:nvPr/>
        </p:nvSpPr>
        <p:spPr>
          <a:xfrm>
            <a:off x="274320" y="4069080"/>
            <a:ext cx="4114800" cy="77724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7" name="Text 3"/>
          <p:cNvSpPr/>
          <p:nvPr/>
        </p:nvSpPr>
        <p:spPr>
          <a:xfrm>
            <a:off x="411480" y="4114800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Senior citizens churn at 41.7% vs 23.6% for non-seniors — nearly double. Dedicated support programmes needed.</a:t>
            </a:r>
            <a:endParaRPr lang="en-US" sz="1000" dirty="0"/>
          </a:p>
        </p:txBody>
      </p:sp>
      <p:sp>
        <p:nvSpPr>
          <p:cNvPr id="8" name="Shape 4"/>
          <p:cNvSpPr/>
          <p:nvPr/>
        </p:nvSpPr>
        <p:spPr>
          <a:xfrm>
            <a:off x="4754880" y="4069080"/>
            <a:ext cx="4114800" cy="77724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9" name="Text 5"/>
          <p:cNvSpPr/>
          <p:nvPr/>
        </p:nvSpPr>
        <p:spPr>
          <a:xfrm>
            <a:off x="4892040" y="4114800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Gender has virtually NO impact on churn (26.9% vs 26.2%). Gender is a low-importance feature for our model.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EDA — Multivariate: Correlation with Churn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10058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</a:rPr>
              <a:t>Positively Correlated with Churn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463040"/>
            <a:ext cx="1874520" cy="320040"/>
          </a:xfrm>
          <a:prstGeom prst="rect">
            <a:avLst/>
          </a:prstGeom>
          <a:solidFill>
            <a:srgbClr val="FCA5A5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48132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</a:rPr>
              <a:t>Contract Month-to-month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337560" y="148132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</a:rPr>
              <a:t>+0.41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74320" y="1965960"/>
            <a:ext cx="1417320" cy="320040"/>
          </a:xfrm>
          <a:prstGeom prst="rect">
            <a:avLst/>
          </a:prstGeom>
          <a:solidFill>
            <a:srgbClr val="FCA5A5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198424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</a:rPr>
              <a:t>Fiber Optic Internet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337560" y="19842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</a:rPr>
              <a:t>+0.31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4320" y="2468880"/>
            <a:ext cx="1371600" cy="320040"/>
          </a:xfrm>
          <a:prstGeom prst="rect">
            <a:avLst/>
          </a:prstGeom>
          <a:solidFill>
            <a:srgbClr val="FCA5A5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" y="248716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</a:rPr>
              <a:t>Electronic Check Payment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337560" y="248716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</a:rPr>
              <a:t>+0.30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2971800"/>
            <a:ext cx="868680" cy="320040"/>
          </a:xfrm>
          <a:prstGeom prst="rect">
            <a:avLst/>
          </a:prstGeom>
          <a:solidFill>
            <a:srgbClr val="FCA5A5"/>
          </a:solidFill>
          <a:ln/>
        </p:spPr>
      </p:sp>
      <p:sp>
        <p:nvSpPr>
          <p:cNvPr id="15" name="Text 13"/>
          <p:cNvSpPr/>
          <p:nvPr/>
        </p:nvSpPr>
        <p:spPr>
          <a:xfrm>
            <a:off x="365760" y="299008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</a:rPr>
              <a:t>Monthly Charges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337560" y="299008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</a:rPr>
              <a:t>+0.19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4320" y="3474720"/>
            <a:ext cx="868680" cy="320040"/>
          </a:xfrm>
          <a:prstGeom prst="rect">
            <a:avLst/>
          </a:prstGeom>
          <a:solidFill>
            <a:srgbClr val="FCA5A5"/>
          </a:solidFill>
          <a:ln/>
        </p:spPr>
      </p:sp>
      <p:sp>
        <p:nvSpPr>
          <p:cNvPr id="18" name="Text 16"/>
          <p:cNvSpPr/>
          <p:nvPr/>
        </p:nvSpPr>
        <p:spPr>
          <a:xfrm>
            <a:off x="365760" y="349300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</a:rPr>
              <a:t>Paperless Billing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337560" y="349300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</a:rPr>
              <a:t>+0.19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3977640"/>
            <a:ext cx="685800" cy="320040"/>
          </a:xfrm>
          <a:prstGeom prst="rect">
            <a:avLst/>
          </a:prstGeom>
          <a:solidFill>
            <a:srgbClr val="FCA5A5"/>
          </a:solidFill>
          <a:ln/>
        </p:spPr>
      </p:sp>
      <p:sp>
        <p:nvSpPr>
          <p:cNvPr id="21" name="Text 19"/>
          <p:cNvSpPr/>
          <p:nvPr/>
        </p:nvSpPr>
        <p:spPr>
          <a:xfrm>
            <a:off x="365760" y="399592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</a:rPr>
              <a:t>Senior Citizen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337560" y="399592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</a:rPr>
              <a:t>+0.15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754880" y="10058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9669"/>
                </a:solidFill>
              </a:rPr>
              <a:t>Negatively Correlated with Churn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754880" y="1463040"/>
            <a:ext cx="2000250" cy="320040"/>
          </a:xfrm>
          <a:prstGeom prst="rect">
            <a:avLst/>
          </a:prstGeom>
          <a:solidFill>
            <a:srgbClr val="86EFAC"/>
          </a:solidFill>
          <a:ln/>
        </p:spPr>
      </p:sp>
      <p:sp>
        <p:nvSpPr>
          <p:cNvPr id="25" name="Text 23"/>
          <p:cNvSpPr/>
          <p:nvPr/>
        </p:nvSpPr>
        <p:spPr>
          <a:xfrm>
            <a:off x="4846320" y="14813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</a:rPr>
              <a:t>tenure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680960" y="148132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</a:rPr>
              <a:t>-0.35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754880" y="1965960"/>
            <a:ext cx="1714500" cy="320040"/>
          </a:xfrm>
          <a:prstGeom prst="rect">
            <a:avLst/>
          </a:prstGeom>
          <a:solidFill>
            <a:srgbClr val="86EFAC"/>
          </a:solidFill>
          <a:ln/>
        </p:spPr>
      </p:sp>
      <p:sp>
        <p:nvSpPr>
          <p:cNvPr id="28" name="Text 26"/>
          <p:cNvSpPr/>
          <p:nvPr/>
        </p:nvSpPr>
        <p:spPr>
          <a:xfrm>
            <a:off x="4846320" y="19842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</a:rPr>
              <a:t>Contract Two Year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680960" y="19842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</a:rPr>
              <a:t>-0.30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754880" y="2468880"/>
            <a:ext cx="1143000" cy="320040"/>
          </a:xfrm>
          <a:prstGeom prst="rect">
            <a:avLst/>
          </a:prstGeom>
          <a:solidFill>
            <a:srgbClr val="86EFAC"/>
          </a:solidFill>
          <a:ln/>
        </p:spPr>
      </p:sp>
      <p:sp>
        <p:nvSpPr>
          <p:cNvPr id="31" name="Text 29"/>
          <p:cNvSpPr/>
          <p:nvPr/>
        </p:nvSpPr>
        <p:spPr>
          <a:xfrm>
            <a:off x="4846320" y="24871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</a:rPr>
              <a:t>TotalCharges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680960" y="248716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</a:rPr>
              <a:t>-0.20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754880" y="2971800"/>
            <a:ext cx="1314450" cy="320040"/>
          </a:xfrm>
          <a:prstGeom prst="rect">
            <a:avLst/>
          </a:prstGeom>
          <a:solidFill>
            <a:srgbClr val="86EFAC"/>
          </a:solidFill>
          <a:ln/>
        </p:spPr>
      </p:sp>
      <p:sp>
        <p:nvSpPr>
          <p:cNvPr id="34" name="Text 32"/>
          <p:cNvSpPr/>
          <p:nvPr/>
        </p:nvSpPr>
        <p:spPr>
          <a:xfrm>
            <a:off x="4846320" y="2990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</a:rPr>
              <a:t>InternetService No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7680960" y="299008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</a:rPr>
              <a:t>-0.23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754880" y="3474720"/>
            <a:ext cx="1028700" cy="320040"/>
          </a:xfrm>
          <a:prstGeom prst="rect">
            <a:avLst/>
          </a:prstGeom>
          <a:solidFill>
            <a:srgbClr val="86EFAC"/>
          </a:solidFill>
          <a:ln/>
        </p:spPr>
      </p:sp>
      <p:sp>
        <p:nvSpPr>
          <p:cNvPr id="37" name="Text 35"/>
          <p:cNvSpPr/>
          <p:nvPr/>
        </p:nvSpPr>
        <p:spPr>
          <a:xfrm>
            <a:off x="4846320" y="34930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</a:rPr>
              <a:t>Contract One Year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7680960" y="349300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</a:rPr>
              <a:t>-0.18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754880" y="3977640"/>
            <a:ext cx="914400" cy="320040"/>
          </a:xfrm>
          <a:prstGeom prst="rect">
            <a:avLst/>
          </a:prstGeom>
          <a:solidFill>
            <a:srgbClr val="86EFAC"/>
          </a:solidFill>
          <a:ln/>
        </p:spPr>
      </p:sp>
      <p:sp>
        <p:nvSpPr>
          <p:cNvPr id="40" name="Text 38"/>
          <p:cNvSpPr/>
          <p:nvPr/>
        </p:nvSpPr>
        <p:spPr>
          <a:xfrm>
            <a:off x="4846320" y="39959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</a:rPr>
              <a:t>Tech Support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7680960" y="399592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</a:rPr>
              <a:t>-0.16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274320" y="4526280"/>
            <a:ext cx="8595360" cy="4114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3" name="Text 41"/>
          <p:cNvSpPr/>
          <p:nvPr/>
        </p:nvSpPr>
        <p:spPr>
          <a:xfrm>
            <a:off x="457200" y="454456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Insight: tenure (-0.35) and Contract_Month-to-month (+0.41) are the strongest churn signals in the entire dataset.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3200400"/>
            <a:ext cx="3657600" cy="3657600"/>
          </a:xfrm>
          <a:prstGeom prst="ellipse">
            <a:avLst/>
          </a:prstGeom>
          <a:solidFill>
            <a:srgbClr val="EF4444">
              <a:alpha val="12000"/>
            </a:srgbClr>
          </a:solidFill>
          <a:ln w="12700">
            <a:solidFill>
              <a:srgbClr val="EF4444">
                <a:alpha val="12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The High Risk Customer Profile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</a:rPr>
              <a:t>Combining all EDA findings — this is who is most likely to churn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3931920" cy="868680"/>
          </a:xfrm>
          <a:prstGeom prst="rect">
            <a:avLst/>
          </a:prstGeom>
          <a:solidFill>
            <a:srgbClr val="FFFFFF">
              <a:alpha val="8000"/>
            </a:srgbClr>
          </a:solidFill>
          <a:ln w="25400">
            <a:solidFill>
              <a:srgbClr val="EF444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417320"/>
            <a:ext cx="457200" cy="86868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417320"/>
            <a:ext cx="457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!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1472184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New Customer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1856232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Tenure &lt; 10 months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63440" y="1417320"/>
            <a:ext cx="3931920" cy="868680"/>
          </a:xfrm>
          <a:prstGeom prst="rect">
            <a:avLst/>
          </a:prstGeom>
          <a:solidFill>
            <a:srgbClr val="FFFFFF">
              <a:alpha val="8000"/>
            </a:srgbClr>
          </a:solidFill>
          <a:ln w="25400">
            <a:solidFill>
              <a:srgbClr val="F9731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63440" y="1417320"/>
            <a:ext cx="457200" cy="86868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2" name="Text 10"/>
          <p:cNvSpPr/>
          <p:nvPr/>
        </p:nvSpPr>
        <p:spPr>
          <a:xfrm>
            <a:off x="4663440" y="1417320"/>
            <a:ext cx="457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!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212080" y="1472184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Month-to-Month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212080" y="1856232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No contract commitment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2514600"/>
            <a:ext cx="3931920" cy="868680"/>
          </a:xfrm>
          <a:prstGeom prst="rect">
            <a:avLst/>
          </a:prstGeom>
          <a:solidFill>
            <a:srgbClr val="FFFFFF">
              <a:alpha val="8000"/>
            </a:srgbClr>
          </a:solidFill>
          <a:ln w="25400">
            <a:solidFill>
              <a:srgbClr val="EAB30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2514600"/>
            <a:ext cx="457200" cy="868680"/>
          </a:xfrm>
          <a:prstGeom prst="rect">
            <a:avLst/>
          </a:prstGeom>
          <a:solidFill>
            <a:srgbClr val="EAB308"/>
          </a:solidFill>
          <a:ln/>
        </p:spPr>
      </p:sp>
      <p:sp>
        <p:nvSpPr>
          <p:cNvPr id="17" name="Text 15"/>
          <p:cNvSpPr/>
          <p:nvPr/>
        </p:nvSpPr>
        <p:spPr>
          <a:xfrm>
            <a:off x="365760" y="2514600"/>
            <a:ext cx="457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!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14400" y="2569464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Fiber Optic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14400" y="2953512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41.9% churn rate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663440" y="2514600"/>
            <a:ext cx="3931920" cy="868680"/>
          </a:xfrm>
          <a:prstGeom prst="rect">
            <a:avLst/>
          </a:prstGeom>
          <a:solidFill>
            <a:srgbClr val="FFFFFF">
              <a:alpha val="8000"/>
            </a:srgbClr>
          </a:solidFill>
          <a:ln w="25400">
            <a:solidFill>
              <a:srgbClr val="A855F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663440" y="2514600"/>
            <a:ext cx="457200" cy="868680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22" name="Text 20"/>
          <p:cNvSpPr/>
          <p:nvPr/>
        </p:nvSpPr>
        <p:spPr>
          <a:xfrm>
            <a:off x="4663440" y="2514600"/>
            <a:ext cx="457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!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212080" y="2569464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Electronic Check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212080" y="2953512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+0.30 correlation with churn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65760" y="3611880"/>
            <a:ext cx="3931920" cy="868680"/>
          </a:xfrm>
          <a:prstGeom prst="rect">
            <a:avLst/>
          </a:prstGeom>
          <a:solidFill>
            <a:srgbClr val="FFFFFF">
              <a:alpha val="8000"/>
            </a:srgbClr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65760" y="3611880"/>
            <a:ext cx="457200" cy="8686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7" name="Text 25"/>
          <p:cNvSpPr/>
          <p:nvPr/>
        </p:nvSpPr>
        <p:spPr>
          <a:xfrm>
            <a:off x="365760" y="3611880"/>
            <a:ext cx="457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!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914400" y="3666744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High Monthly Bill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914400" y="4050792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Avg $74.44 vs $61.27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663440" y="3611880"/>
            <a:ext cx="3931920" cy="868680"/>
          </a:xfrm>
          <a:prstGeom prst="rect">
            <a:avLst/>
          </a:prstGeom>
          <a:solidFill>
            <a:srgbClr val="FFFFFF">
              <a:alpha val="8000"/>
            </a:srgbClr>
          </a:solidFill>
          <a:ln w="25400">
            <a:solidFill>
              <a:srgbClr val="06B6D4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663440" y="3611880"/>
            <a:ext cx="457200" cy="86868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2" name="Text 30"/>
          <p:cNvSpPr/>
          <p:nvPr/>
        </p:nvSpPr>
        <p:spPr>
          <a:xfrm>
            <a:off x="4663440" y="3611880"/>
            <a:ext cx="457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!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5212080" y="3666744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Senior Citizen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212080" y="4050792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41.7% churn rate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Modelling Approach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2743200" cy="1371600"/>
          </a:xfrm>
          <a:prstGeom prst="rect">
            <a:avLst/>
          </a:prstGeom>
          <a:solidFill>
            <a:srgbClr val="F0F4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05840"/>
            <a:ext cx="2743200" cy="4114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10058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Split 80/20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1508760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5,634 train / 1,409 test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Stratified to maintain churn ratio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00400" y="1005840"/>
            <a:ext cx="2743200" cy="1371600"/>
          </a:xfrm>
          <a:prstGeom prst="rect">
            <a:avLst/>
          </a:prstGeom>
          <a:solidFill>
            <a:srgbClr val="F0F4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0" y="1005840"/>
            <a:ext cx="2743200" cy="41148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0" name="Text 8"/>
          <p:cNvSpPr/>
          <p:nvPr/>
        </p:nvSpPr>
        <p:spPr>
          <a:xfrm>
            <a:off x="3200400" y="10058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StandardScaler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337560" y="1508760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tenure, MonthlyCharges,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TotalCharges normalised to mean=0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126480" y="1005840"/>
            <a:ext cx="2743200" cy="1371600"/>
          </a:xfrm>
          <a:prstGeom prst="rect">
            <a:avLst/>
          </a:prstGeom>
          <a:solidFill>
            <a:srgbClr val="F0F4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26480" y="1005840"/>
            <a:ext cx="2743200" cy="4114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4" name="Text 12"/>
          <p:cNvSpPr/>
          <p:nvPr/>
        </p:nvSpPr>
        <p:spPr>
          <a:xfrm>
            <a:off x="6126480" y="10058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SMOTE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263640" y="1508760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Balanced training set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4,142 → 8,284 samples (50/50)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74320" y="2651760"/>
            <a:ext cx="2743200" cy="2286000"/>
          </a:xfrm>
          <a:prstGeom prst="rect">
            <a:avLst/>
          </a:prstGeom>
          <a:solidFill>
            <a:srgbClr val="F0F4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2651760"/>
            <a:ext cx="2743200" cy="731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8" name="Shape 16"/>
          <p:cNvSpPr/>
          <p:nvPr/>
        </p:nvSpPr>
        <p:spPr>
          <a:xfrm>
            <a:off x="1920240" y="2743200"/>
            <a:ext cx="1005840" cy="2743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9" name="Text 17"/>
          <p:cNvSpPr/>
          <p:nvPr/>
        </p:nvSpPr>
        <p:spPr>
          <a:xfrm>
            <a:off x="1920240" y="27432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BASELINE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11480" y="278892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Logistic Regression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11480" y="3246120"/>
            <a:ext cx="24688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</a:rPr>
              <a:t>Simple linear model. Draws a boundary between churners and non-churners. Great baseline — fast and interpretable.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200400" y="2651760"/>
            <a:ext cx="2743200" cy="2286000"/>
          </a:xfrm>
          <a:prstGeom prst="rect">
            <a:avLst/>
          </a:prstGeom>
          <a:solidFill>
            <a:srgbClr val="F0F4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00400" y="2651760"/>
            <a:ext cx="2743200" cy="7315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4" name="Shape 22"/>
          <p:cNvSpPr/>
          <p:nvPr/>
        </p:nvSpPr>
        <p:spPr>
          <a:xfrm>
            <a:off x="4846320" y="2743200"/>
            <a:ext cx="1005840" cy="2743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5" name="Text 23"/>
          <p:cNvSpPr/>
          <p:nvPr/>
        </p:nvSpPr>
        <p:spPr>
          <a:xfrm>
            <a:off x="4846320" y="27432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ENSEMBLE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3337560" y="278892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Random Forest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337560" y="3246120"/>
            <a:ext cx="24688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</a:rPr>
              <a:t>Ensemble of 100 decision trees. Each tree votes — majority wins. Handles non-linear patterns well.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126480" y="2651760"/>
            <a:ext cx="2743200" cy="2286000"/>
          </a:xfrm>
          <a:prstGeom prst="rect">
            <a:avLst/>
          </a:prstGeom>
          <a:solidFill>
            <a:srgbClr val="F0F4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126480" y="2651760"/>
            <a:ext cx="2743200" cy="73152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0" name="Shape 28"/>
          <p:cNvSpPr/>
          <p:nvPr/>
        </p:nvSpPr>
        <p:spPr>
          <a:xfrm>
            <a:off x="7772400" y="2743200"/>
            <a:ext cx="1005840" cy="27432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1" name="Text 29"/>
          <p:cNvSpPr/>
          <p:nvPr/>
        </p:nvSpPr>
        <p:spPr>
          <a:xfrm>
            <a:off x="7772400" y="27432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BOOSTING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6263640" y="278892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XGBoost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263640" y="3246120"/>
            <a:ext cx="24688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</a:rPr>
              <a:t>Gradient boosting — each tree corrects the previous tree's mistakes. Industry's most popular algorithm.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Model Results Comparison</a:t>
            </a:r>
            <a:endParaRPr lang="en-US" sz="26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05840"/>
          <a:ext cx="8412480" cy="2011680"/>
        </p:xfrm>
        <a:graphic>
          <a:graphicData uri="http://schemas.openxmlformats.org/drawingml/2006/table">
            <a:tbl>
              <a:tblPr/>
              <a:tblGrid>
                <a:gridCol w="2194560"/>
                <a:gridCol w="1371600"/>
                <a:gridCol w="1371600"/>
                <a:gridCol w="1645920"/>
                <a:gridCol w="1371600"/>
                <a:gridCol w="1371600"/>
              </a:tblGrid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Model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Accuracy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Churn Recall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Churn Precision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ROC-AUC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Winner?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</a:rPr>
                        <a:t>Logistic Regression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76%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59669"/>
                          </a:solidFill>
                        </a:rPr>
                        <a:t>72%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54%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59669"/>
                          </a:solidFill>
                        </a:rPr>
                        <a:t>0.8356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WINNER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9669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</a:rPr>
                        <a:t>Random Forest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77%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64%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56%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0.8228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</a:rPr>
                        <a:t>2nd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</a:rPr>
                        <a:t>XGBoost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77%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68%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55%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0.8076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</a:rPr>
                        <a:t>3rd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365760" y="3200400"/>
            <a:ext cx="841248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365760" y="3200400"/>
            <a:ext cx="73152" cy="169164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7" name="Text 4"/>
          <p:cNvSpPr/>
          <p:nvPr/>
        </p:nvSpPr>
        <p:spPr>
          <a:xfrm>
            <a:off x="594360" y="3273552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</a:rPr>
              <a:t>Surprising Finding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94360" y="3657600"/>
            <a:ext cx="7955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Logistic Regression won on the metrics that matter most — Recall (72%) and ROC-AUC (0.8356). </a:t>
            </a:r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More complex does not always mean better. </a:t>
            </a:r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With a dataset of 7,043 rows and fairly linear relationships between features and churn, the simple model captured the pattern best. XGBoost and Random Forest may improve with hyperparameter tuning.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</a:rPr>
              <a:t>Model Evaluation — Confusion Matrix &amp; Feature Importance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Confusion Matrix — Logistic Regression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1737360" cy="13716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417320"/>
            <a:ext cx="17373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True Negative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802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Correctly said STAY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194560" y="1417320"/>
            <a:ext cx="1737360" cy="13716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8" name="Text 6"/>
          <p:cNvSpPr/>
          <p:nvPr/>
        </p:nvSpPr>
        <p:spPr>
          <a:xfrm>
            <a:off x="2194560" y="1417320"/>
            <a:ext cx="17373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</a:rPr>
              <a:t>False Positive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</a:rPr>
              <a:t>233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</a:rPr>
              <a:t>Wrongly said CHURN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2880360"/>
            <a:ext cx="1737360" cy="13716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2880360"/>
            <a:ext cx="17373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</a:rPr>
              <a:t>False Negative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</a:rPr>
              <a:t>104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</a:rPr>
              <a:t>Missed churners ⚠️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194560" y="2880360"/>
            <a:ext cx="1737360" cy="13716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2" name="Text 10"/>
          <p:cNvSpPr/>
          <p:nvPr/>
        </p:nvSpPr>
        <p:spPr>
          <a:xfrm>
            <a:off x="2194560" y="2880360"/>
            <a:ext cx="17373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True Positive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270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Caught churners ✅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65760" y="128016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4748B"/>
                </a:solidFill>
              </a:rPr>
              <a:t>Predicted: No Churn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194560" y="128016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4748B"/>
                </a:solidFill>
              </a:rPr>
              <a:t>Predicted: Churn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389120" y="10058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Top Feature Importances (Random Forest)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389120" y="14173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F172A"/>
                </a:solidFill>
              </a:rPr>
              <a:t>tenure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766560" y="1463040"/>
            <a:ext cx="3072384" cy="25603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8" name="Text 16"/>
          <p:cNvSpPr/>
          <p:nvPr/>
        </p:nvSpPr>
        <p:spPr>
          <a:xfrm>
            <a:off x="9884664" y="146304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</a:rPr>
              <a:t>21%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389120" y="18745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F172A"/>
                </a:solidFill>
              </a:rPr>
              <a:t>MonthlyCharges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766560" y="1920240"/>
            <a:ext cx="2633472" cy="25603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1" name="Text 19"/>
          <p:cNvSpPr/>
          <p:nvPr/>
        </p:nvSpPr>
        <p:spPr>
          <a:xfrm>
            <a:off x="9445752" y="192024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</a:rPr>
              <a:t>18%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389120" y="23317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F172A"/>
                </a:solidFill>
              </a:rPr>
              <a:t>TotalCharges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766560" y="2377440"/>
            <a:ext cx="2487168" cy="256032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4" name="Text 22"/>
          <p:cNvSpPr/>
          <p:nvPr/>
        </p:nvSpPr>
        <p:spPr>
          <a:xfrm>
            <a:off x="9299448" y="237744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</a:rPr>
              <a:t>17%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389120" y="27889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F172A"/>
                </a:solidFill>
              </a:rPr>
              <a:t>Contract_Month-to-month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766560" y="2834640"/>
            <a:ext cx="1316736" cy="256032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7" name="Text 25"/>
          <p:cNvSpPr/>
          <p:nvPr/>
        </p:nvSpPr>
        <p:spPr>
          <a:xfrm>
            <a:off x="8129016" y="283464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</a:rPr>
              <a:t>9%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389120" y="32461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F172A"/>
                </a:solidFill>
              </a:rPr>
              <a:t>InternetService_Fiber optic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766560" y="3291840"/>
            <a:ext cx="1024128" cy="256032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0" name="Text 28"/>
          <p:cNvSpPr/>
          <p:nvPr/>
        </p:nvSpPr>
        <p:spPr>
          <a:xfrm>
            <a:off x="7836408" y="329184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</a:rPr>
              <a:t>7%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389120" y="37033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F172A"/>
                </a:solidFill>
              </a:rPr>
              <a:t>PaymentMethod_Elec check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766560" y="3749040"/>
            <a:ext cx="731520" cy="256032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3" name="Text 31"/>
          <p:cNvSpPr/>
          <p:nvPr/>
        </p:nvSpPr>
        <p:spPr>
          <a:xfrm>
            <a:off x="7543800" y="374904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</a:rPr>
              <a:t>5%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389120" y="41605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F172A"/>
                </a:solidFill>
              </a:rPr>
              <a:t>SeniorCitizen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766560" y="4206240"/>
            <a:ext cx="585216" cy="256032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36" name="Text 34"/>
          <p:cNvSpPr/>
          <p:nvPr/>
        </p:nvSpPr>
        <p:spPr>
          <a:xfrm>
            <a:off x="7397496" y="420624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</a:rPr>
              <a:t>4%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389120" y="46177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F172A"/>
                </a:solidFill>
              </a:rPr>
              <a:t>gender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6766560" y="4663440"/>
            <a:ext cx="146304" cy="256032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39" name="Text 37"/>
          <p:cNvSpPr/>
          <p:nvPr/>
        </p:nvSpPr>
        <p:spPr>
          <a:xfrm>
            <a:off x="6958584" y="466344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</a:rPr>
              <a:t>1%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Business Recommendations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420624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51560"/>
            <a:ext cx="457200" cy="11430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1051560"/>
            <a:ext cx="457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474720" y="1097280"/>
            <a:ext cx="868680" cy="256032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8" name="Text 6"/>
          <p:cNvSpPr/>
          <p:nvPr/>
        </p:nvSpPr>
        <p:spPr>
          <a:xfrm>
            <a:off x="3474720" y="1097280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HIGH IMPACT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841248" y="1106424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Convert Month-to-Month Customers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41248" y="1463040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Offer discounts to upgrade to annual contracts. A customer on a 1-year contract is 4x less likely to churn.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709160" y="1051560"/>
            <a:ext cx="420624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09160" y="1051560"/>
            <a:ext cx="457200" cy="114300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3" name="Text 11"/>
          <p:cNvSpPr/>
          <p:nvPr/>
        </p:nvSpPr>
        <p:spPr>
          <a:xfrm>
            <a:off x="4709160" y="1051560"/>
            <a:ext cx="457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909560" y="1097280"/>
            <a:ext cx="868680" cy="256032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5" name="Text 13"/>
          <p:cNvSpPr/>
          <p:nvPr/>
        </p:nvSpPr>
        <p:spPr>
          <a:xfrm>
            <a:off x="7909560" y="1097280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HIGH IMPACT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5276088" y="1106424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Investigate Fiber Optic Quality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276088" y="1463040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41.9% churn suggests a service quality or pricing problem. Conduct customer satisfaction surveys for Fiber users.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74320" y="2377440"/>
            <a:ext cx="420624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74320" y="2377440"/>
            <a:ext cx="457200" cy="11430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0" name="Text 18"/>
          <p:cNvSpPr/>
          <p:nvPr/>
        </p:nvSpPr>
        <p:spPr>
          <a:xfrm>
            <a:off x="274320" y="2377440"/>
            <a:ext cx="457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3474720" y="2423160"/>
            <a:ext cx="868680" cy="256032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0" y="2423160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HIGH IMPACT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841248" y="2432304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Early Intervention Programme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41248" y="2788920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Flag new customers in months 1-10. Proactively reach out with onboarding support and loyalty rewards.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709160" y="2377440"/>
            <a:ext cx="420624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09160" y="2377440"/>
            <a:ext cx="457200" cy="11430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7" name="Text 25"/>
          <p:cNvSpPr/>
          <p:nvPr/>
        </p:nvSpPr>
        <p:spPr>
          <a:xfrm>
            <a:off x="4709160" y="2377440"/>
            <a:ext cx="457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7909560" y="2423160"/>
            <a:ext cx="868680" cy="256032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9" name="Text 27"/>
          <p:cNvSpPr/>
          <p:nvPr/>
        </p:nvSpPr>
        <p:spPr>
          <a:xfrm>
            <a:off x="7909560" y="2423160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MED IMPACT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5276088" y="2432304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Incentivise Auto-Payment Setup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276088" y="2788920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Electronic check users churn more. Offer billing credits for switching to automatic bank transfer or credit card.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274320" y="3703320"/>
            <a:ext cx="420624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274320" y="3703320"/>
            <a:ext cx="457200" cy="11430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4" name="Text 32"/>
          <p:cNvSpPr/>
          <p:nvPr/>
        </p:nvSpPr>
        <p:spPr>
          <a:xfrm>
            <a:off x="274320" y="3703320"/>
            <a:ext cx="457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3474720" y="3749040"/>
            <a:ext cx="868680" cy="256032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6" name="Text 34"/>
          <p:cNvSpPr/>
          <p:nvPr/>
        </p:nvSpPr>
        <p:spPr>
          <a:xfrm>
            <a:off x="3474720" y="3749040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MED IMPACT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841248" y="3758184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Senior Citizen Support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841248" y="4114800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Assign dedicated senior support agents. Simplify billing and offer senior-specific plan bundles.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709160" y="3703320"/>
            <a:ext cx="420624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709160" y="3703320"/>
            <a:ext cx="457200" cy="11430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1" name="Text 39"/>
          <p:cNvSpPr/>
          <p:nvPr/>
        </p:nvSpPr>
        <p:spPr>
          <a:xfrm>
            <a:off x="4709160" y="3703320"/>
            <a:ext cx="457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6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7909560" y="3749040"/>
            <a:ext cx="868680" cy="256032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43" name="Text 41"/>
          <p:cNvSpPr/>
          <p:nvPr/>
        </p:nvSpPr>
        <p:spPr>
          <a:xfrm>
            <a:off x="7909560" y="3749040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MED IMPACT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5276088" y="3758184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Review High-Charge Pricing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5276088" y="4114800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Churners pay $13 more/month. Review value proposition for customers paying over $70/month.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914400"/>
            <a:ext cx="4572000" cy="4572000"/>
          </a:xfrm>
          <a:prstGeom prst="ellipse">
            <a:avLst/>
          </a:prstGeom>
          <a:solidFill>
            <a:srgbClr val="2563EB">
              <a:alpha val="20000"/>
            </a:srgbClr>
          </a:solidFill>
          <a:ln w="12700">
            <a:solidFill>
              <a:srgbClr val="2563EB">
                <a:alpha val="2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Live Deployment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</a:rPr>
              <a:t>Streamlit Prediction App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109728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554480"/>
            <a:ext cx="274320" cy="2743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536192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Input any customer's details via a live form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057400"/>
            <a:ext cx="274320" cy="2743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2039112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Instantly predicts churn probability (0-100%)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560320"/>
            <a:ext cx="274320" cy="2743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2542032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Flags which risk factors are driving the prediction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063240"/>
            <a:ext cx="274320" cy="2743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3044952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Gives specific retention recommendations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3566160"/>
            <a:ext cx="274320" cy="2743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3547872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Built with Logistic Regression — our best model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4069080"/>
            <a:ext cx="274320" cy="2743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" y="4050792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Runs on streamlit run app.py — no web dev needed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217920" y="1371600"/>
            <a:ext cx="2651760" cy="347472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17920" y="14173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DCFC"/>
                </a:solidFill>
              </a:rPr>
              <a:t>Tech Stack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00800" y="18745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Python 3.12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00800" y="2258568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Pandas &amp; NumPy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00800" y="2642616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Scikit-learn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400800" y="3026664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Streamlit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400800" y="341071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Matplotlib / Seaborn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400800" y="37947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XGBoost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400800" y="4178808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imbalanced-learn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400800" y="4562856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Joblib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0" y="2286000"/>
            <a:ext cx="5029200" cy="5029200"/>
          </a:xfrm>
          <a:prstGeom prst="ellipse">
            <a:avLst/>
          </a:prstGeom>
          <a:solidFill>
            <a:srgbClr val="2563EB">
              <a:alpha val="15000"/>
            </a:srgbClr>
          </a:solidFill>
          <a:ln w="12700">
            <a:solidFill>
              <a:srgbClr val="2563EB">
                <a:alpha val="1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0"/>
            <a:ext cx="2743200" cy="2743200"/>
          </a:xfrm>
          <a:prstGeom prst="ellipse">
            <a:avLst/>
          </a:prstGeom>
          <a:solidFill>
            <a:srgbClr val="CADCFC">
              <a:alpha val="10000"/>
            </a:srgbClr>
          </a:solidFill>
          <a:ln w="12700">
            <a:solidFill>
              <a:srgbClr val="CADCFC">
                <a:alpha val="1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73152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Joseph Elijah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2286000"/>
            <a:ext cx="109728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423160"/>
            <a:ext cx="5486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</a:rPr>
              <a:t>Customer Churn Analysis &amp; Prediction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</a:rPr>
              <a:t>End-to-End Machine Learning Project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3474720"/>
            <a:ext cx="1828800" cy="118872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547872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7,043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57200" y="409651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</a:rPr>
              <a:t>Customers Analysed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560320" y="3474720"/>
            <a:ext cx="1828800" cy="118872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60320" y="3547872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72%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2560320" y="409651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</a:rPr>
              <a:t>Churners Caught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663440" y="3474720"/>
            <a:ext cx="1828800" cy="118872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63440" y="3547872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0.84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663440" y="409651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</a:rPr>
              <a:t>ROC-AUC Score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766560" y="3474720"/>
            <a:ext cx="1828800" cy="118872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66560" y="3547872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LIVE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766560" y="409651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</a:rPr>
              <a:t>Streamlit App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563EB"/>
                </a:solidFill>
              </a:rPr>
              <a:t>Questions &amp; Discussion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8595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Live Streamlit App — Deployed Prediction Tool</a:t>
            </a:r>
          </a:p>
        </p:txBody>
      </p:sp>
      <p:pic>
        <p:nvPicPr>
          <p:cNvPr id="4" name="Picture 3" descr="Screenshot__780_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868680"/>
            <a:ext cx="4297680" cy="3200400"/>
          </a:xfrm>
          <a:prstGeom prst="rect">
            <a:avLst/>
          </a:prstGeom>
        </p:spPr>
      </p:pic>
      <p:pic>
        <p:nvPicPr>
          <p:cNvPr id="5" name="Picture 4" descr="Screenshot__781_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440" y="868680"/>
            <a:ext cx="4297680" cy="32004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28600" y="4133087"/>
            <a:ext cx="4297680" cy="2743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28600" y="4133087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Customer Input Form</a:t>
            </a:r>
          </a:p>
        </p:txBody>
      </p:sp>
      <p:sp>
        <p:nvSpPr>
          <p:cNvPr id="8" name="Rectangle 7"/>
          <p:cNvSpPr/>
          <p:nvPr/>
        </p:nvSpPr>
        <p:spPr>
          <a:xfrm>
            <a:off x="4663440" y="4133087"/>
            <a:ext cx="4297680" cy="2743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40" y="4133087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Full Form + Predict Button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8600" y="4480560"/>
            <a:ext cx="868680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4526280"/>
            <a:ext cx="137160" cy="1371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449884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Calibri"/>
              </a:rPr>
              <a:t>Input customer details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560320" y="4526280"/>
            <a:ext cx="137160" cy="1371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61488" y="449884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Calibri"/>
              </a:rPr>
              <a:t>Instant churn probability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54880" y="4526280"/>
            <a:ext cx="137160" cy="1371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956048" y="449884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Calibri"/>
              </a:rPr>
              <a:t>Risk factor flags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0" y="4526280"/>
            <a:ext cx="137160" cy="1371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84848" y="449884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Calibri"/>
              </a:rPr>
              <a:t>Retention recommendations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0" y="4754880"/>
            <a:ext cx="2743200" cy="25603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00400" y="4754880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CADCFC"/>
                </a:solidFill>
                <a:latin typeface="Calibri"/>
              </a:rPr>
              <a:t>localhost:8501  |  streamlit run app.py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Customer Churn Analysis</dc:title>
  <dc:subject>PptxGenJS Presentation</dc:subject>
  <dc:creator>Joseph Elijah</dc:creator>
  <cp:lastModifiedBy>Joseph Elijah</cp:lastModifiedBy>
  <cp:revision>1</cp:revision>
  <dcterms:created xsi:type="dcterms:W3CDTF">2026-03-10T15:19:29Z</dcterms:created>
  <dcterms:modified xsi:type="dcterms:W3CDTF">2026-03-10T15:19:29Z</dcterms:modified>
</cp:coreProperties>
</file>